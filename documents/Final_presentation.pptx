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18"/>
    </p:embeddedFont>
    <p:embeddedFont>
      <p:font typeface="Arimo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4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16039" y="538458"/>
            <a:ext cx="1425988" cy="1105614"/>
          </a:xfrm>
          <a:custGeom>
            <a:avLst/>
            <a:gdLst/>
            <a:ahLst/>
            <a:cxnLst/>
            <a:rect r="r" b="b" t="t" l="l"/>
            <a:pathLst>
              <a:path h="1105614" w="1425988">
                <a:moveTo>
                  <a:pt x="0" y="0"/>
                </a:moveTo>
                <a:lnTo>
                  <a:pt x="1425988" y="0"/>
                </a:lnTo>
                <a:lnTo>
                  <a:pt x="1425988" y="1105614"/>
                </a:lnTo>
                <a:lnTo>
                  <a:pt x="0" y="1105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0" r="0" b="-30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18035" y="4203059"/>
            <a:ext cx="5983824" cy="6083941"/>
            <a:chOff x="0" y="0"/>
            <a:chExt cx="7978432" cy="81119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78394" cy="8111871"/>
            </a:xfrm>
            <a:custGeom>
              <a:avLst/>
              <a:gdLst/>
              <a:ahLst/>
              <a:cxnLst/>
              <a:rect r="r" b="b" t="t" l="l"/>
              <a:pathLst>
                <a:path h="8111871" w="7978394">
                  <a:moveTo>
                    <a:pt x="7978394" y="0"/>
                  </a:moveTo>
                  <a:lnTo>
                    <a:pt x="7978394" y="4778629"/>
                  </a:lnTo>
                  <a:lnTo>
                    <a:pt x="7717027" y="4822571"/>
                  </a:lnTo>
                  <a:cubicBezTo>
                    <a:pt x="5986780" y="5150866"/>
                    <a:pt x="5295900" y="6072378"/>
                    <a:pt x="5058537" y="7743952"/>
                  </a:cubicBezTo>
                  <a:lnTo>
                    <a:pt x="5015865" y="8111871"/>
                  </a:lnTo>
                  <a:lnTo>
                    <a:pt x="0" y="8111871"/>
                  </a:lnTo>
                  <a:lnTo>
                    <a:pt x="45847" y="7578090"/>
                  </a:lnTo>
                  <a:cubicBezTo>
                    <a:pt x="581533" y="3043809"/>
                    <a:pt x="3020695" y="253746"/>
                    <a:pt x="7770114" y="9271"/>
                  </a:cubicBezTo>
                  <a:cubicBezTo>
                    <a:pt x="7813929" y="6350"/>
                    <a:pt x="7862824" y="3937"/>
                    <a:pt x="7915783" y="1778"/>
                  </a:cubicBezTo>
                  <a:close/>
                </a:path>
              </a:pathLst>
            </a:custGeom>
            <a:solidFill>
              <a:srgbClr val="EEEDEB">
                <a:alpha val="3922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52440" y="3120022"/>
            <a:ext cx="17383121" cy="1818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56"/>
              </a:lnSpc>
            </a:pPr>
            <a:r>
              <a:rPr lang="en-US" sz="6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CitePrism: LLM-Driven Audit of Self-Citations and Reference Relevance 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51469" y="9534525"/>
            <a:ext cx="1311840" cy="547688"/>
            <a:chOff x="0" y="0"/>
            <a:chExt cx="174912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49118" cy="730250"/>
            </a:xfrm>
            <a:custGeom>
              <a:avLst/>
              <a:gdLst/>
              <a:ahLst/>
              <a:cxnLst/>
              <a:rect r="r" b="b" t="t" l="l"/>
              <a:pathLst>
                <a:path h="730250" w="1749118">
                  <a:moveTo>
                    <a:pt x="0" y="0"/>
                  </a:moveTo>
                  <a:lnTo>
                    <a:pt x="1749118" y="0"/>
                  </a:lnTo>
                  <a:lnTo>
                    <a:pt x="1749118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3566" t="0" r="-356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174912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12</a:t>
              </a: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.03.2026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6644" r="0" b="-2966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624489" y="1009650"/>
            <a:ext cx="503902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Case Study- 1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1469" y="8924925"/>
            <a:ext cx="9285902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9"/>
              </a:lnSpc>
              <a:spcBef>
                <a:spcPct val="0"/>
              </a:spcBef>
            </a:pPr>
            <a:r>
              <a:rPr lang="en-US" b="true" sz="214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Github : https://github.com/SRH-Heidelberg-University-ADSA/CitePrism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91560" y="5148085"/>
            <a:ext cx="914400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Team Members: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Darshan Gowda Budanur Madappa(100004574)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Gowrika Mahesh(100004973)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Kavana Gopladevarahalli Papegowda(100004573)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Prajwal Basavaraj(100004572)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7389" y="5681485"/>
            <a:ext cx="4148807" cy="160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Under the guidance of: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Prof. Dr. Mehrdad Jalali</a:t>
            </a:r>
          </a:p>
          <a:p>
            <a:pPr algn="l">
              <a:lnSpc>
                <a:spcPts val="420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823" y="541734"/>
            <a:ext cx="7442835" cy="1253380"/>
            <a:chOff x="0" y="0"/>
            <a:chExt cx="9923780" cy="1671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777" cy="1671169"/>
            </a:xfrm>
            <a:custGeom>
              <a:avLst/>
              <a:gdLst/>
              <a:ahLst/>
              <a:cxnLst/>
              <a:rect r="r" b="b" t="t" l="l"/>
              <a:pathLst>
                <a:path h="1671169" w="9923777">
                  <a:moveTo>
                    <a:pt x="0" y="0"/>
                  </a:moveTo>
                  <a:lnTo>
                    <a:pt x="9923777" y="0"/>
                  </a:lnTo>
                  <a:lnTo>
                    <a:pt x="9923777" y="1671169"/>
                  </a:lnTo>
                  <a:lnTo>
                    <a:pt x="0" y="167116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3762" r="-84720" b="-16370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23780" cy="169974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Introduction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503163" y="2273962"/>
            <a:ext cx="7237073" cy="4821700"/>
          </a:xfrm>
          <a:custGeom>
            <a:avLst/>
            <a:gdLst/>
            <a:ahLst/>
            <a:cxnLst/>
            <a:rect r="r" b="b" t="t" l="l"/>
            <a:pathLst>
              <a:path h="4821700" w="7237073">
                <a:moveTo>
                  <a:pt x="0" y="0"/>
                </a:moveTo>
                <a:lnTo>
                  <a:pt x="7237073" y="0"/>
                </a:lnTo>
                <a:lnTo>
                  <a:pt x="7237073" y="4821700"/>
                </a:lnTo>
                <a:lnTo>
                  <a:pt x="0" y="4821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5823" y="2178712"/>
            <a:ext cx="9175010" cy="5747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CitePrism is a modern system for au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diting academic manuscripts on citation relevance, with a focus on evaluating self-citations. By leveraging Large Language Models (LLMs) and embedding techniques, CitePrism ensures clarity in scholarly practices by detecting off-topic citations, ranking references by relevance, and generating audit-ready reports.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823" y="689666"/>
            <a:ext cx="7442835" cy="2140967"/>
            <a:chOff x="0" y="0"/>
            <a:chExt cx="9923780" cy="2854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777" cy="2854616"/>
            </a:xfrm>
            <a:custGeom>
              <a:avLst/>
              <a:gdLst/>
              <a:ahLst/>
              <a:cxnLst/>
              <a:rect r="r" b="b" t="t" l="l"/>
              <a:pathLst>
                <a:path h="2854616" w="9923777">
                  <a:moveTo>
                    <a:pt x="0" y="0"/>
                  </a:moveTo>
                  <a:lnTo>
                    <a:pt x="9923777" y="0"/>
                  </a:lnTo>
                  <a:lnTo>
                    <a:pt x="9923777" y="2854616"/>
                  </a:lnTo>
                  <a:lnTo>
                    <a:pt x="0" y="2854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70" r="-84720" b="-543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23780" cy="28831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Problem Statement</a:t>
              </a:r>
            </a:p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992278" y="2534093"/>
            <a:ext cx="6267022" cy="4175403"/>
          </a:xfrm>
          <a:custGeom>
            <a:avLst/>
            <a:gdLst/>
            <a:ahLst/>
            <a:cxnLst/>
            <a:rect r="r" b="b" t="t" l="l"/>
            <a:pathLst>
              <a:path h="4175403" w="6267022">
                <a:moveTo>
                  <a:pt x="0" y="0"/>
                </a:moveTo>
                <a:lnTo>
                  <a:pt x="6267022" y="0"/>
                </a:lnTo>
                <a:lnTo>
                  <a:pt x="6267022" y="4175403"/>
                </a:lnTo>
                <a:lnTo>
                  <a:pt x="0" y="41754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5823" y="2438843"/>
            <a:ext cx="8753053" cy="4471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Checking every reference in a research paper is too sl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ow for humans to do alone. Because of this, some authors 'cheat' by citing themselves or their fri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ends just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 boost their scores, even if the work isn't relevant. This makes academic research less trustworthy.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823" y="689666"/>
            <a:ext cx="7442835" cy="2140967"/>
            <a:chOff x="0" y="0"/>
            <a:chExt cx="9923780" cy="2854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777" cy="2854616"/>
            </a:xfrm>
            <a:custGeom>
              <a:avLst/>
              <a:gdLst/>
              <a:ahLst/>
              <a:cxnLst/>
              <a:rect r="r" b="b" t="t" l="l"/>
              <a:pathLst>
                <a:path h="2854616" w="9923777">
                  <a:moveTo>
                    <a:pt x="0" y="0"/>
                  </a:moveTo>
                  <a:lnTo>
                    <a:pt x="9923777" y="0"/>
                  </a:lnTo>
                  <a:lnTo>
                    <a:pt x="9923777" y="2854616"/>
                  </a:lnTo>
                  <a:lnTo>
                    <a:pt x="0" y="2854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70" r="-84720" b="-543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23780" cy="28831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User story </a:t>
              </a:r>
            </a:p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2986" y="3014662"/>
            <a:ext cx="15262028" cy="445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As a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research checker, 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 want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 AI dashboard that quickly spots useless citations,</a:t>
            </a:r>
          </a:p>
          <a:p>
            <a:pPr algn="just">
              <a:lnSpc>
                <a:spcPts val="5040"/>
              </a:lnSpc>
            </a:pPr>
          </a:p>
          <a:p>
            <a:pPr algn="just">
              <a:lnSpc>
                <a:spcPts val="5040"/>
              </a:lnSpc>
            </a:pPr>
            <a:r>
              <a:rPr lang="en-US" sz="36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So that </a:t>
            </a:r>
            <a:r>
              <a:rPr lang="en-US" sz="36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 can make sure every reference is actually needed without doing all the work by hand.</a:t>
            </a:r>
          </a:p>
          <a:p>
            <a:pPr algn="just">
              <a:lnSpc>
                <a:spcPts val="459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823" y="689666"/>
            <a:ext cx="7442835" cy="2140967"/>
            <a:chOff x="0" y="0"/>
            <a:chExt cx="9923780" cy="2854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777" cy="2854616"/>
            </a:xfrm>
            <a:custGeom>
              <a:avLst/>
              <a:gdLst/>
              <a:ahLst/>
              <a:cxnLst/>
              <a:rect r="r" b="b" t="t" l="l"/>
              <a:pathLst>
                <a:path h="2854616" w="9923777">
                  <a:moveTo>
                    <a:pt x="0" y="0"/>
                  </a:moveTo>
                  <a:lnTo>
                    <a:pt x="9923777" y="0"/>
                  </a:lnTo>
                  <a:lnTo>
                    <a:pt x="9923777" y="2854616"/>
                  </a:lnTo>
                  <a:lnTo>
                    <a:pt x="0" y="2854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70" r="-84720" b="-543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23780" cy="28831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Business Questions</a:t>
              </a:r>
            </a:p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2986" y="3014662"/>
            <a:ext cx="15262028" cy="6168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5459"/>
              </a:lnSpc>
              <a:buAutoNum type="arabicPeriod" startAt="1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does CitePrism improve audit efficiency?</a:t>
            </a:r>
          </a:p>
          <a:p>
            <a:pPr algn="just">
              <a:lnSpc>
                <a:spcPts val="5459"/>
              </a:lnSpc>
            </a:pP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Problem: Manual citation review currently takes 3–4 hours per manuscript.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Result: CitePrism reduces this time to 30–45 minutes, allowing a single analyst to process 4x–5x more papers every day.</a:t>
            </a:r>
          </a:p>
          <a:p>
            <a:pPr algn="just">
              <a:lnSpc>
                <a:spcPts val="5459"/>
              </a:lnSpc>
            </a:pPr>
          </a:p>
          <a:p>
            <a:pPr algn="just">
              <a:lnSpc>
                <a:spcPts val="5459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823" y="689666"/>
            <a:ext cx="7442835" cy="2140967"/>
            <a:chOff x="0" y="0"/>
            <a:chExt cx="9923780" cy="2854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777" cy="2854616"/>
            </a:xfrm>
            <a:custGeom>
              <a:avLst/>
              <a:gdLst/>
              <a:ahLst/>
              <a:cxnLst/>
              <a:rect r="r" b="b" t="t" l="l"/>
              <a:pathLst>
                <a:path h="2854616" w="9923777">
                  <a:moveTo>
                    <a:pt x="0" y="0"/>
                  </a:moveTo>
                  <a:lnTo>
                    <a:pt x="9923777" y="0"/>
                  </a:lnTo>
                  <a:lnTo>
                    <a:pt x="9923777" y="2854616"/>
                  </a:lnTo>
                  <a:lnTo>
                    <a:pt x="0" y="2854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70" r="-84720" b="-543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23780" cy="28831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Business Questions</a:t>
              </a:r>
            </a:p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2986" y="3014662"/>
            <a:ext cx="15262028" cy="68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5459"/>
              </a:lnSpc>
              <a:buAutoNum type="arabicPeriod" startAt="1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How do we prevent "False Positives" (wrongly flagging good citations)?</a:t>
            </a:r>
          </a:p>
          <a:p>
            <a:pPr algn="just">
              <a:lnSpc>
                <a:spcPts val="5459"/>
              </a:lnSpc>
            </a:pP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The Solution: The system doesn't just look for "self-citations"; it combines relevance scoring with contextual analysis.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Human-in-t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he-Loop: Only citations that fall below a specific user-defined threshold (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τ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) trigger a flag, ensuring high-quality research isn't penalized by mistake</a:t>
            </a:r>
          </a:p>
          <a:p>
            <a:pPr algn="just">
              <a:lnSpc>
                <a:spcPts val="5365"/>
              </a:lnSpc>
            </a:pPr>
          </a:p>
          <a:p>
            <a:pPr algn="just">
              <a:lnSpc>
                <a:spcPts val="5365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5823" y="689666"/>
            <a:ext cx="7442835" cy="2140967"/>
            <a:chOff x="0" y="0"/>
            <a:chExt cx="9923780" cy="285462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23777" cy="2854616"/>
            </a:xfrm>
            <a:custGeom>
              <a:avLst/>
              <a:gdLst/>
              <a:ahLst/>
              <a:cxnLst/>
              <a:rect r="r" b="b" t="t" l="l"/>
              <a:pathLst>
                <a:path h="2854616" w="9923777">
                  <a:moveTo>
                    <a:pt x="0" y="0"/>
                  </a:moveTo>
                  <a:lnTo>
                    <a:pt x="9923777" y="0"/>
                  </a:lnTo>
                  <a:lnTo>
                    <a:pt x="9923777" y="2854616"/>
                  </a:lnTo>
                  <a:lnTo>
                    <a:pt x="0" y="28546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5870" r="-84720" b="-54379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9923780" cy="2883198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Business Questions</a:t>
              </a:r>
            </a:p>
            <a:p>
              <a:pPr algn="l">
                <a:lnSpc>
                  <a:spcPts val="72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7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512986" y="3014662"/>
            <a:ext cx="15262028" cy="6835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0" indent="-421005" lvl="1">
              <a:lnSpc>
                <a:spcPts val="5459"/>
              </a:lnSpc>
              <a:buAutoNum type="arabicPeriod" startAt="1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Can the AI’s decisions be challenged by a human?</a:t>
            </a:r>
          </a:p>
          <a:p>
            <a:pPr algn="just">
              <a:lnSpc>
                <a:spcPts val="5459"/>
              </a:lnSpc>
            </a:pP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ranspar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en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cy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: 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Ev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ry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s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cor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 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inclu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des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q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u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ed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e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v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dence 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c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LLM-g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n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r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at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ional</a:t>
            </a: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e.</a:t>
            </a:r>
          </a:p>
          <a:p>
            <a:pPr algn="just" marL="842010" indent="-421005" lvl="1">
              <a:lnSpc>
                <a:spcPts val="5459"/>
              </a:lnSpc>
              <a:buFont typeface="Arial"/>
              <a:buChar char="•"/>
            </a:pPr>
            <a:r>
              <a:rPr lang="en-US" sz="390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Control: Analysts can manually adjust the threshold, review the AI's logic, and override any automated decision based on their own expertise.</a:t>
            </a:r>
          </a:p>
          <a:p>
            <a:pPr algn="just">
              <a:lnSpc>
                <a:spcPts val="5459"/>
              </a:lnSpc>
            </a:pPr>
          </a:p>
          <a:p>
            <a:pPr algn="just">
              <a:lnSpc>
                <a:spcPts val="5365"/>
              </a:lnSpc>
            </a:pPr>
          </a:p>
          <a:p>
            <a:pPr algn="just">
              <a:lnSpc>
                <a:spcPts val="5365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20732" y="581495"/>
            <a:ext cx="6807737" cy="2121915"/>
            <a:chOff x="0" y="0"/>
            <a:chExt cx="9076982" cy="2829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076980" cy="2829214"/>
            </a:xfrm>
            <a:custGeom>
              <a:avLst/>
              <a:gdLst/>
              <a:ahLst/>
              <a:cxnLst/>
              <a:rect r="r" b="b" t="t" l="l"/>
              <a:pathLst>
                <a:path h="2829214" w="9076980">
                  <a:moveTo>
                    <a:pt x="0" y="0"/>
                  </a:moveTo>
                  <a:lnTo>
                    <a:pt x="9076980" y="0"/>
                  </a:lnTo>
                  <a:lnTo>
                    <a:pt x="9076980" y="2829214"/>
                  </a:lnTo>
                  <a:lnTo>
                    <a:pt x="0" y="28292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731" r="-101952" b="-5576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076982" cy="28482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Core Objectives</a:t>
              </a:r>
            </a:p>
            <a:p>
              <a:pPr algn="l">
                <a:lnSpc>
                  <a:spcPts val="7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20732" y="2080994"/>
            <a:ext cx="16919599" cy="6280410"/>
          </a:xfrm>
          <a:custGeom>
            <a:avLst/>
            <a:gdLst/>
            <a:ahLst/>
            <a:cxnLst/>
            <a:rect r="r" b="b" t="t" l="l"/>
            <a:pathLst>
              <a:path h="6280410" w="16919599">
                <a:moveTo>
                  <a:pt x="0" y="0"/>
                </a:moveTo>
                <a:lnTo>
                  <a:pt x="16919600" y="0"/>
                </a:lnTo>
                <a:lnTo>
                  <a:pt x="16919600" y="6280410"/>
                </a:lnTo>
                <a:lnTo>
                  <a:pt x="0" y="62804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412" t="-1258" r="-1025" b="-1248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538068" y="445328"/>
            <a:ext cx="1326853" cy="1026707"/>
          </a:xfrm>
          <a:custGeom>
            <a:avLst/>
            <a:gdLst/>
            <a:ahLst/>
            <a:cxnLst/>
            <a:rect r="r" b="b" t="t" l="l"/>
            <a:pathLst>
              <a:path h="1026707" w="1326853">
                <a:moveTo>
                  <a:pt x="0" y="0"/>
                </a:moveTo>
                <a:lnTo>
                  <a:pt x="1326853" y="0"/>
                </a:lnTo>
                <a:lnTo>
                  <a:pt x="1326853" y="1026707"/>
                </a:lnTo>
                <a:lnTo>
                  <a:pt x="0" y="10267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60994" y="261048"/>
            <a:ext cx="13748404" cy="1217040"/>
            <a:chOff x="0" y="0"/>
            <a:chExt cx="18331205" cy="16227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331200" cy="1622716"/>
            </a:xfrm>
            <a:custGeom>
              <a:avLst/>
              <a:gdLst/>
              <a:ahLst/>
              <a:cxnLst/>
              <a:rect r="r" b="b" t="t" l="l"/>
              <a:pathLst>
                <a:path h="1622716" w="18331200">
                  <a:moveTo>
                    <a:pt x="0" y="0"/>
                  </a:moveTo>
                  <a:lnTo>
                    <a:pt x="18331200" y="0"/>
                  </a:lnTo>
                  <a:lnTo>
                    <a:pt x="18331200" y="1622716"/>
                  </a:lnTo>
                  <a:lnTo>
                    <a:pt x="0" y="162271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8652" r="0" b="-17157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8331205" cy="16417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Architecture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869101" y="1478088"/>
            <a:ext cx="15668967" cy="8069296"/>
          </a:xfrm>
          <a:custGeom>
            <a:avLst/>
            <a:gdLst/>
            <a:ahLst/>
            <a:cxnLst/>
            <a:rect r="r" b="b" t="t" l="l"/>
            <a:pathLst>
              <a:path h="8069296" w="15668967">
                <a:moveTo>
                  <a:pt x="0" y="0"/>
                </a:moveTo>
                <a:lnTo>
                  <a:pt x="15668967" y="0"/>
                </a:lnTo>
                <a:lnTo>
                  <a:pt x="15668967" y="8069296"/>
                </a:lnTo>
                <a:lnTo>
                  <a:pt x="0" y="8069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38" t="-7262" r="-638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6215" y="761233"/>
            <a:ext cx="965771" cy="317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8619" indent="-109540" lvl="2">
              <a:lnSpc>
                <a:spcPts val="2396"/>
              </a:lnSpc>
              <a:buFont typeface="Arial"/>
              <a:buChar char="⚬"/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62277" y="656878"/>
            <a:ext cx="7441331" cy="1217040"/>
            <a:chOff x="0" y="0"/>
            <a:chExt cx="9839868" cy="160932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839866" cy="1609321"/>
            </a:xfrm>
            <a:custGeom>
              <a:avLst/>
              <a:gdLst/>
              <a:ahLst/>
              <a:cxnLst/>
              <a:rect r="r" b="b" t="t" l="l"/>
              <a:pathLst>
                <a:path h="1609321" w="9839866">
                  <a:moveTo>
                    <a:pt x="0" y="0"/>
                  </a:moveTo>
                  <a:lnTo>
                    <a:pt x="9839866" y="0"/>
                  </a:lnTo>
                  <a:lnTo>
                    <a:pt x="9839866" y="1609321"/>
                  </a:lnTo>
                  <a:lnTo>
                    <a:pt x="0" y="1609321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056" r="-86295" b="-17383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839868" cy="162837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Live demonstration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624274" y="2067755"/>
            <a:ext cx="13076434" cy="6798172"/>
          </a:xfrm>
          <a:custGeom>
            <a:avLst/>
            <a:gdLst/>
            <a:ahLst/>
            <a:cxnLst/>
            <a:rect r="r" b="b" t="t" l="l"/>
            <a:pathLst>
              <a:path h="6798172" w="13076434">
                <a:moveTo>
                  <a:pt x="0" y="0"/>
                </a:moveTo>
                <a:lnTo>
                  <a:pt x="13076434" y="0"/>
                </a:lnTo>
                <a:lnTo>
                  <a:pt x="13076434" y="6798172"/>
                </a:lnTo>
                <a:lnTo>
                  <a:pt x="0" y="67981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879" r="0" b="-3433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10" id="10"/>
          <p:cNvGrpSpPr/>
          <p:nvPr/>
        </p:nvGrpSpPr>
        <p:grpSpPr>
          <a:xfrm rot="0">
            <a:off x="1989287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1857" y="541734"/>
            <a:ext cx="7479818" cy="2121915"/>
            <a:chOff x="0" y="0"/>
            <a:chExt cx="9973090" cy="2829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73087" cy="2829214"/>
            </a:xfrm>
            <a:custGeom>
              <a:avLst/>
              <a:gdLst/>
              <a:ahLst/>
              <a:cxnLst/>
              <a:rect r="r" b="b" t="t" l="l"/>
              <a:pathLst>
                <a:path h="2829214" w="9973087">
                  <a:moveTo>
                    <a:pt x="0" y="0"/>
                  </a:moveTo>
                  <a:lnTo>
                    <a:pt x="9973087" y="0"/>
                  </a:lnTo>
                  <a:lnTo>
                    <a:pt x="9973087" y="2829214"/>
                  </a:lnTo>
                  <a:lnTo>
                    <a:pt x="0" y="282921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6731" r="-83806" b="-55765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9973090" cy="284827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99"/>
                </a:lnSpc>
              </a:pPr>
              <a:r>
                <a:rPr lang="en-US" sz="5999" b="true">
                  <a:solidFill>
                    <a:srgbClr val="DF4807"/>
                  </a:solidFill>
                  <a:latin typeface="Arimo Bold"/>
                  <a:ea typeface="Arimo Bold"/>
                  <a:cs typeface="Arimo Bold"/>
                  <a:sym typeface="Arimo Bold"/>
                </a:rPr>
                <a:t>Future scope</a:t>
              </a:r>
            </a:p>
            <a:p>
              <a:pPr algn="l">
                <a:lnSpc>
                  <a:spcPts val="71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6D7373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551469" y="1817041"/>
            <a:ext cx="16827179" cy="8132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51"/>
              </a:lnSpc>
            </a:pPr>
          </a:p>
          <a:p>
            <a:pPr algn="just" marL="578592" indent="-289296" lvl="1">
              <a:lnSpc>
                <a:spcPts val="3751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Multi-Model C</a:t>
            </a:r>
            <a:r>
              <a:rPr lang="en-US" sz="26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onsensus Scoring: Implement an ensemble scoring system where multiple LLMs (e.g., Gemini, Llama, and Claude) cross-validate citation relevance to eliminate individual model bias and improve overall audit reliability.</a:t>
            </a:r>
          </a:p>
          <a:p>
            <a:pPr algn="just">
              <a:lnSpc>
                <a:spcPts val="3751"/>
              </a:lnSpc>
            </a:pPr>
          </a:p>
          <a:p>
            <a:pPr algn="just" marL="578592" indent="-289296" lvl="1">
              <a:lnSpc>
                <a:spcPts val="3751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Springer and ScienceDirect API Integration: Expand the metadata enrichment pipeline by integrating official Springer and ScienceDirect API keys to retrieve full-text access and high-fidelity abstracts, directly addressing the current "Missing Abstract" bottleneck.</a:t>
            </a:r>
          </a:p>
          <a:p>
            <a:pPr algn="just">
              <a:lnSpc>
                <a:spcPts val="3751"/>
              </a:lnSpc>
            </a:pPr>
          </a:p>
          <a:p>
            <a:pPr algn="just" marL="578592" indent="-289296" lvl="1">
              <a:lnSpc>
                <a:spcPts val="3751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Autonomous AI Audit Agents: Develop specialized AI agents capable of autonomously searching the web to resolve metadata hallucinations and "Hallucination Guard" mismatches without requiring manual human intervention.</a:t>
            </a:r>
          </a:p>
          <a:p>
            <a:pPr algn="just">
              <a:lnSpc>
                <a:spcPts val="3751"/>
              </a:lnSpc>
            </a:pPr>
          </a:p>
          <a:p>
            <a:pPr algn="just" marL="578592" indent="-289296" lvl="1">
              <a:lnSpc>
                <a:spcPts val="3751"/>
              </a:lnSpc>
              <a:buFont typeface="Arial"/>
              <a:buChar char="•"/>
            </a:pPr>
            <a:r>
              <a:rPr lang="en-US" sz="267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Explainable AI (XAI) Dashboards: Integrate SHAP or LIME-based visualization layers to provide transparent, feature-level explanations for why specific references were flagged, transforming "Black Box" scores into actionable editorial insights.</a:t>
            </a:r>
          </a:p>
          <a:p>
            <a:pPr algn="just">
              <a:lnSpc>
                <a:spcPts val="3751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01F1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48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7830" y="541734"/>
            <a:ext cx="1422502" cy="1100719"/>
          </a:xfrm>
          <a:custGeom>
            <a:avLst/>
            <a:gdLst/>
            <a:ahLst/>
            <a:cxnLst/>
            <a:rect r="r" b="b" t="t" l="l"/>
            <a:pathLst>
              <a:path h="1100719" w="1422502">
                <a:moveTo>
                  <a:pt x="0" y="0"/>
                </a:moveTo>
                <a:lnTo>
                  <a:pt x="1422502" y="0"/>
                </a:lnTo>
                <a:lnTo>
                  <a:pt x="1422502" y="1100719"/>
                </a:lnTo>
                <a:lnTo>
                  <a:pt x="0" y="1100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316039" y="538458"/>
            <a:ext cx="1425988" cy="1105614"/>
          </a:xfrm>
          <a:custGeom>
            <a:avLst/>
            <a:gdLst/>
            <a:ahLst/>
            <a:cxnLst/>
            <a:rect r="r" b="b" t="t" l="l"/>
            <a:pathLst>
              <a:path h="1105614" w="1425988">
                <a:moveTo>
                  <a:pt x="0" y="0"/>
                </a:moveTo>
                <a:lnTo>
                  <a:pt x="1425988" y="0"/>
                </a:lnTo>
                <a:lnTo>
                  <a:pt x="1425988" y="1105614"/>
                </a:lnTo>
                <a:lnTo>
                  <a:pt x="0" y="11056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0" r="0" b="-30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2318035" y="4203059"/>
            <a:ext cx="5983824" cy="6083941"/>
            <a:chOff x="0" y="0"/>
            <a:chExt cx="7978432" cy="811192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78394" cy="8111871"/>
            </a:xfrm>
            <a:custGeom>
              <a:avLst/>
              <a:gdLst/>
              <a:ahLst/>
              <a:cxnLst/>
              <a:rect r="r" b="b" t="t" l="l"/>
              <a:pathLst>
                <a:path h="8111871" w="7978394">
                  <a:moveTo>
                    <a:pt x="7978394" y="0"/>
                  </a:moveTo>
                  <a:lnTo>
                    <a:pt x="7978394" y="4778629"/>
                  </a:lnTo>
                  <a:lnTo>
                    <a:pt x="7717027" y="4822571"/>
                  </a:lnTo>
                  <a:cubicBezTo>
                    <a:pt x="5986780" y="5150866"/>
                    <a:pt x="5295900" y="6072378"/>
                    <a:pt x="5058537" y="7743952"/>
                  </a:cubicBezTo>
                  <a:lnTo>
                    <a:pt x="5015865" y="8111871"/>
                  </a:lnTo>
                  <a:lnTo>
                    <a:pt x="0" y="8111871"/>
                  </a:lnTo>
                  <a:lnTo>
                    <a:pt x="45847" y="7578090"/>
                  </a:lnTo>
                  <a:cubicBezTo>
                    <a:pt x="581533" y="3043809"/>
                    <a:pt x="3020695" y="253746"/>
                    <a:pt x="7770114" y="9271"/>
                  </a:cubicBezTo>
                  <a:cubicBezTo>
                    <a:pt x="7813929" y="6350"/>
                    <a:pt x="7862824" y="3937"/>
                    <a:pt x="7915783" y="1778"/>
                  </a:cubicBezTo>
                  <a:close/>
                </a:path>
              </a:pathLst>
            </a:custGeom>
            <a:solidFill>
              <a:srgbClr val="EEEDEB">
                <a:alpha val="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720109" y="9547384"/>
            <a:ext cx="1020127" cy="547688"/>
            <a:chOff x="0" y="0"/>
            <a:chExt cx="136017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60170" cy="730250"/>
            </a:xfrm>
            <a:custGeom>
              <a:avLst/>
              <a:gdLst/>
              <a:ahLst/>
              <a:cxnLst/>
              <a:rect r="r" b="b" t="t" l="l"/>
              <a:pathLst>
                <a:path h="730250" w="1360170">
                  <a:moveTo>
                    <a:pt x="0" y="0"/>
                  </a:moveTo>
                  <a:lnTo>
                    <a:pt x="1360170" y="0"/>
                  </a:lnTo>
                  <a:lnTo>
                    <a:pt x="136017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8883" t="0" r="-18883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360170" cy="7397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790"/>
                </a:lnSpc>
              </a:pPr>
              <a:r>
                <a:rPr lang="en-US" sz="2325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12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6185743" y="3303958"/>
            <a:ext cx="5916513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55"/>
              </a:lnSpc>
            </a:pPr>
            <a:r>
              <a:rPr lang="en-US" sz="7963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  <a:p>
            <a:pPr algn="ctr">
              <a:lnSpc>
                <a:spcPts val="9555"/>
              </a:lnSpc>
            </a:pPr>
          </a:p>
          <a:p>
            <a:pPr algn="ctr">
              <a:lnSpc>
                <a:spcPts val="7036"/>
              </a:lnSpc>
              <a:spcBef>
                <a:spcPct val="0"/>
              </a:spcBef>
            </a:pPr>
            <a:r>
              <a:rPr lang="en-US" b="true" sz="5863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Any Questions ?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979762" y="9534525"/>
            <a:ext cx="9743532" cy="547688"/>
            <a:chOff x="0" y="0"/>
            <a:chExt cx="12991376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91380" cy="730250"/>
            </a:xfrm>
            <a:custGeom>
              <a:avLst/>
              <a:gdLst/>
              <a:ahLst/>
              <a:cxnLst/>
              <a:rect r="r" b="b" t="t" l="l"/>
              <a:pathLst>
                <a:path h="730250" w="12991380">
                  <a:moveTo>
                    <a:pt x="0" y="0"/>
                  </a:moveTo>
                  <a:lnTo>
                    <a:pt x="12991380" y="0"/>
                  </a:lnTo>
                  <a:lnTo>
                    <a:pt x="1299138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6644" r="0" b="-29664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12991376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SRH University Heidelberg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DAHDicb2Ado</dc:identifier>
  <dcterms:modified xsi:type="dcterms:W3CDTF">2011-08-01T06:04:30Z</dcterms:modified>
  <cp:revision>1</cp:revision>
  <dc:title>12.03.2026</dc:title>
</cp:coreProperties>
</file>